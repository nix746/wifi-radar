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78203" autoAdjust="0"/>
  </p:normalViewPr>
  <p:slideViewPr>
    <p:cSldViewPr snapToGrid="0">
      <p:cViewPr varScale="1">
        <p:scale>
          <a:sx n="109" d="100"/>
          <a:sy n="109" d="100"/>
        </p:scale>
        <p:origin x="55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9F81D-18ED-4B03-905B-EFBC47EDA700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9328FF-F5E4-4E1C-B895-100023156C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022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Projekt który mnie zaciekawił</a:t>
            </a:r>
          </a:p>
          <a:p>
            <a:endParaRPr lang="pl-PL" dirty="0"/>
          </a:p>
          <a:p>
            <a:r>
              <a:rPr lang="pl-PL" dirty="0"/>
              <a:t>Na wstępie podziękowania dla Patryka za kod implementujący nadajnik oraz kanał, pomogło mi to wdrożyć się w temat I usprawniło pracę.</a:t>
            </a:r>
          </a:p>
          <a:p>
            <a:endParaRPr lang="pl-PL" dirty="0"/>
          </a:p>
          <a:p>
            <a:r>
              <a:rPr lang="pl-PL" dirty="0"/>
              <a:t>Radar </a:t>
            </a:r>
            <a:r>
              <a:rPr lang="pl-PL" dirty="0" err="1"/>
              <a:t>WiFi</a:t>
            </a:r>
            <a:endParaRPr lang="pl-PL" dirty="0"/>
          </a:p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328FF-F5E4-4E1C-B895-100023156C1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5464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Passive</a:t>
            </a:r>
            <a:r>
              <a:rPr lang="pl-PL" dirty="0"/>
              <a:t> </a:t>
            </a:r>
            <a:r>
              <a:rPr lang="pl-PL" dirty="0" err="1"/>
              <a:t>Coherent</a:t>
            </a:r>
            <a:r>
              <a:rPr lang="pl-PL" dirty="0"/>
              <a:t> </a:t>
            </a:r>
            <a:r>
              <a:rPr lang="pl-PL" dirty="0" err="1"/>
              <a:t>Location</a:t>
            </a:r>
            <a:endParaRPr lang="pl-PL" dirty="0"/>
          </a:p>
          <a:p>
            <a:endParaRPr lang="pl-PL" dirty="0"/>
          </a:p>
          <a:p>
            <a:r>
              <a:rPr lang="pl-PL" noProof="0" dirty="0"/>
              <a:t>System radarowy, który nie emituje własnego sygnału, lecz wykorzystuje istniejące transmitery 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Geometria </a:t>
            </a:r>
            <a:r>
              <a:rPr lang="pl-PL" dirty="0" err="1"/>
              <a:t>Bistatyczna</a:t>
            </a:r>
            <a:r>
              <a:rPr lang="pl-PL" dirty="0"/>
              <a:t>: Nadajnik (Wi-Fi Access Point) i Odbiornik (Radar) są w różnych miejscach.</a:t>
            </a:r>
            <a:endParaRPr lang="pl-PL" dirty="0">
              <a:effectLst/>
            </a:endParaRPr>
          </a:p>
          <a:p>
            <a:endParaRPr lang="pl-PL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328FF-F5E4-4E1C-B895-100023156C1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603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err="1"/>
              <a:t>Sygnał</a:t>
            </a:r>
            <a:r>
              <a:rPr lang="en-GB" dirty="0"/>
              <a:t> s(t) jest </a:t>
            </a:r>
            <a:r>
              <a:rPr lang="en-GB" dirty="0" err="1"/>
              <a:t>sumą</a:t>
            </a:r>
            <a:r>
              <a:rPr lang="en-GB" dirty="0"/>
              <a:t> </a:t>
            </a:r>
            <a:r>
              <a:rPr lang="en-GB" dirty="0" err="1"/>
              <a:t>zmodulowanych</a:t>
            </a:r>
            <a:r>
              <a:rPr lang="en-GB" dirty="0"/>
              <a:t> </a:t>
            </a:r>
            <a:r>
              <a:rPr lang="en-GB" dirty="0" err="1"/>
              <a:t>podnośnych</a:t>
            </a:r>
            <a:r>
              <a:rPr lang="en-GB" dirty="0"/>
              <a:t>: </a:t>
            </a: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Orthogonal Frequency-Division Multiplexing</a:t>
            </a: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(</a:t>
            </a:r>
            <a:r>
              <a:rPr lang="en-GB" dirty="0" err="1"/>
              <a:t>rozmiar</a:t>
            </a:r>
            <a:r>
              <a:rPr lang="en-GB" dirty="0"/>
              <a:t> FFT).</a:t>
            </a: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(</a:t>
            </a:r>
            <a:r>
              <a:rPr lang="en-GB" dirty="0" err="1"/>
              <a:t>odstęp</a:t>
            </a:r>
            <a:r>
              <a:rPr lang="en-GB" dirty="0"/>
              <a:t> </a:t>
            </a:r>
            <a:r>
              <a:rPr lang="en-GB" dirty="0" err="1"/>
              <a:t>między</a:t>
            </a:r>
            <a:r>
              <a:rPr lang="en-GB" dirty="0"/>
              <a:t> </a:t>
            </a:r>
            <a:r>
              <a:rPr lang="en-GB" dirty="0" err="1"/>
              <a:t>podnośnymi</a:t>
            </a:r>
            <a:r>
              <a:rPr lang="en-GB" dirty="0"/>
              <a:t>).</a:t>
            </a: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(</a:t>
            </a:r>
            <a:r>
              <a:rPr lang="en-GB" dirty="0" err="1"/>
              <a:t>reszta</a:t>
            </a:r>
            <a:r>
              <a:rPr lang="en-GB" dirty="0"/>
              <a:t> to </a:t>
            </a:r>
            <a:r>
              <a:rPr lang="en-GB" dirty="0" err="1"/>
              <a:t>pasma</a:t>
            </a:r>
            <a:r>
              <a:rPr lang="en-GB" dirty="0"/>
              <a:t> </a:t>
            </a:r>
            <a:r>
              <a:rPr lang="en-GB" dirty="0" err="1"/>
              <a:t>ochronne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składowa</a:t>
            </a:r>
            <a:r>
              <a:rPr lang="en-GB" dirty="0"/>
              <a:t> </a:t>
            </a:r>
            <a:r>
              <a:rPr lang="en-GB" dirty="0" err="1"/>
              <a:t>stała</a:t>
            </a:r>
            <a:r>
              <a:rPr lang="en-GB" dirty="0"/>
              <a:t> DC).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5,5GHz</a:t>
            </a: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328FF-F5E4-4E1C-B895-100023156C1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90680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Model</a:t>
            </a:r>
            <a:r>
              <a:rPr lang="pl-PL" dirty="0"/>
              <a:t> </a:t>
            </a:r>
            <a:r>
              <a:rPr lang="en-GB" dirty="0"/>
              <a:t>Propagacji </a:t>
            </a:r>
            <a:r>
              <a:rPr lang="en-GB" dirty="0" err="1"/>
              <a:t>Wielodrogowej</a:t>
            </a:r>
            <a:endParaRPr lang="pl-PL" dirty="0"/>
          </a:p>
          <a:p>
            <a:endParaRPr lang="pl-PL" dirty="0"/>
          </a:p>
          <a:p>
            <a:r>
              <a:rPr lang="pl-PL" dirty="0"/>
              <a:t>Sygnał odebrany </a:t>
            </a:r>
            <a:r>
              <a:rPr lang="pl-PL" dirty="0">
                <a:effectLst/>
              </a:rPr>
              <a:t>r</a:t>
            </a:r>
            <a:r>
              <a:rPr lang="pl-PL" dirty="0"/>
              <a:t>(t) jest sumą przesuniętych i stłumionych kopii sygnału nadanego</a:t>
            </a:r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(zespolona amplituda) dla h-tego celu.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(zależne od odległości </a:t>
            </a:r>
            <a:r>
              <a:rPr lang="pl-PL" dirty="0" err="1"/>
              <a:t>bistatycznej</a:t>
            </a:r>
            <a:r>
              <a:rPr lang="pl-PL" dirty="0"/>
              <a:t> </a:t>
            </a:r>
            <a:r>
              <a:rPr lang="pl-PL" dirty="0">
                <a:effectLst/>
              </a:rPr>
              <a:t>R</a:t>
            </a:r>
            <a:r>
              <a:rPr lang="pl-PL" dirty="0"/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>
                <a:effectLst/>
              </a:rPr>
              <a:t>τ</a:t>
            </a:r>
            <a:r>
              <a:rPr lang="pl-PL" dirty="0"/>
              <a:t>=</a:t>
            </a:r>
            <a:r>
              <a:rPr lang="pl-PL" dirty="0">
                <a:effectLst/>
              </a:rPr>
              <a:t>R</a:t>
            </a:r>
            <a:r>
              <a:rPr lang="pl-PL" dirty="0"/>
              <a:t>/c.</a:t>
            </a:r>
          </a:p>
          <a:p>
            <a:r>
              <a:rPr lang="pl-PL" dirty="0"/>
              <a:t>(zależne od prędkości </a:t>
            </a:r>
            <a:r>
              <a:rPr lang="pl-PL" dirty="0">
                <a:effectLst/>
              </a:rPr>
              <a:t>v</a:t>
            </a:r>
            <a:r>
              <a:rPr lang="pl-PL" dirty="0"/>
              <a:t> i częstotliwości nośnej </a:t>
            </a:r>
            <a:r>
              <a:rPr lang="pl-PL" dirty="0" err="1">
                <a:effectLst/>
              </a:rPr>
              <a:t>fc</a:t>
            </a:r>
            <a:r>
              <a:rPr lang="pl-PL" dirty="0"/>
              <a:t>​)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328FF-F5E4-4E1C-B895-100023156C1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9264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328FF-F5E4-4E1C-B895-100023156C1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133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wykorzystujemy fakt, że znamy treść nadawaną (sygnał referencyjny). Traktujemy radar jako estymator odpowiedzi impulsowej kanału (CIR).</a:t>
            </a:r>
          </a:p>
          <a:p>
            <a:r>
              <a:rPr lang="pl-PL" b="1" dirty="0"/>
              <a:t>(Symbol </a:t>
            </a:r>
            <a:r>
              <a:rPr lang="pl-PL" b="1" dirty="0" err="1"/>
              <a:t>Division</a:t>
            </a:r>
            <a:r>
              <a:rPr lang="pl-PL" b="1" dirty="0"/>
              <a:t>)</a:t>
            </a:r>
            <a:endParaRPr lang="pl-PL" dirty="0"/>
          </a:p>
          <a:p>
            <a:endParaRPr lang="pl-PL" dirty="0"/>
          </a:p>
          <a:p>
            <a:r>
              <a:rPr lang="pl-PL" dirty="0"/>
              <a:t>Uwaga: W praktyce stosujemy </a:t>
            </a:r>
            <a:r>
              <a:rPr lang="pl-PL" dirty="0">
                <a:effectLst/>
              </a:rPr>
              <a:t>X</a:t>
            </a:r>
            <a:r>
              <a:rPr lang="pl-PL" dirty="0"/>
              <a:t>[</a:t>
            </a:r>
            <a:r>
              <a:rPr lang="pl-PL" dirty="0" err="1">
                <a:effectLst/>
              </a:rPr>
              <a:t>k</a:t>
            </a:r>
            <a:r>
              <a:rPr lang="pl-PL" dirty="0" err="1"/>
              <a:t>,m</a:t>
            </a:r>
            <a:r>
              <a:rPr lang="pl-PL" dirty="0"/>
              <a:t>]+ϵ w mianowniku, aby uniknąć dzielenia przez zero.</a:t>
            </a:r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K </a:t>
            </a:r>
            <a:r>
              <a:rPr lang="en-US" altLang="en-US" dirty="0">
                <a:latin typeface="Arial" panose="020B0604020202020204" pitchFamily="34" charset="0"/>
              </a:rPr>
              <a:t>(</a:t>
            </a:r>
            <a:r>
              <a:rPr lang="en-US" altLang="en-US" dirty="0" err="1">
                <a:latin typeface="Arial" panose="020B0604020202020204" pitchFamily="34" charset="0"/>
              </a:rPr>
              <a:t>oś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częstotliwości</a:t>
            </a:r>
            <a:r>
              <a:rPr lang="en-US" altLang="en-US" dirty="0">
                <a:latin typeface="Arial" panose="020B0604020202020204" pitchFamily="34" charset="0"/>
              </a:rPr>
              <a:t>/</a:t>
            </a:r>
            <a:r>
              <a:rPr lang="en-US" altLang="en-US" dirty="0" err="1">
                <a:latin typeface="Arial" panose="020B0604020202020204" pitchFamily="34" charset="0"/>
              </a:rPr>
              <a:t>odległości</a:t>
            </a:r>
            <a:r>
              <a:rPr lang="en-US" altLang="en-US" dirty="0">
                <a:latin typeface="Arial" panose="020B0604020202020204" pitchFamily="34" charset="0"/>
              </a:rPr>
              <a:t>).</a:t>
            </a:r>
          </a:p>
          <a:p>
            <a:r>
              <a:rPr lang="pl-PL" altLang="en-US" dirty="0">
                <a:latin typeface="Arial" panose="020B0604020202020204" pitchFamily="34" charset="0"/>
              </a:rPr>
              <a:t>M </a:t>
            </a:r>
            <a:r>
              <a:rPr lang="en-US" altLang="en-US" dirty="0">
                <a:latin typeface="Arial" panose="020B0604020202020204" pitchFamily="34" charset="0"/>
              </a:rPr>
              <a:t>(</a:t>
            </a:r>
            <a:r>
              <a:rPr lang="en-US" altLang="en-US" dirty="0" err="1">
                <a:latin typeface="Arial" panose="020B0604020202020204" pitchFamily="34" charset="0"/>
              </a:rPr>
              <a:t>oś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czasu</a:t>
            </a:r>
            <a:r>
              <a:rPr lang="en-US" altLang="en-US" dirty="0">
                <a:latin typeface="Arial" panose="020B0604020202020204" pitchFamily="34" charset="0"/>
              </a:rPr>
              <a:t>/</a:t>
            </a:r>
            <a:r>
              <a:rPr lang="en-US" altLang="en-US" dirty="0" err="1">
                <a:latin typeface="Arial" panose="020B0604020202020204" pitchFamily="34" charset="0"/>
              </a:rPr>
              <a:t>Dopplera</a:t>
            </a:r>
            <a:r>
              <a:rPr lang="en-US" altLang="en-US" dirty="0">
                <a:latin typeface="Arial" panose="020B0604020202020204" pitchFamily="34" charset="0"/>
              </a:rPr>
              <a:t>).</a:t>
            </a:r>
            <a:endParaRPr lang="pl-PL" altLang="en-US" dirty="0">
              <a:latin typeface="Arial" panose="020B0604020202020204" pitchFamily="34" charset="0"/>
            </a:endParaRPr>
          </a:p>
          <a:p>
            <a:endParaRPr lang="pl-PL" dirty="0"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Otrzymujemy macierze symboli w dziedzinie częstotliwości dla sygnału odebranego (</a:t>
            </a:r>
            <a:r>
              <a:rPr lang="pl-PL" dirty="0">
                <a:effectLst/>
              </a:rPr>
              <a:t>Y</a:t>
            </a:r>
            <a:r>
              <a:rPr lang="pl-PL" dirty="0"/>
              <a:t>) i referencyjnego (</a:t>
            </a:r>
            <a:r>
              <a:rPr lang="pl-PL" dirty="0">
                <a:effectLst/>
              </a:rPr>
              <a:t>X</a:t>
            </a:r>
            <a:r>
              <a:rPr lang="pl-PL" dirty="0"/>
              <a:t>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328FF-F5E4-4E1C-B895-100023156C1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2001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Wykonujemy Odwrotną Transformację Fouriera (IDFT) wzdłuż osi podnośnych (</a:t>
            </a:r>
            <a:r>
              <a:rPr lang="pl-PL" dirty="0">
                <a:effectLst/>
              </a:rPr>
              <a:t>k</a:t>
            </a:r>
            <a:r>
              <a:rPr lang="pl-PL" dirty="0"/>
              <a:t>). </a:t>
            </a:r>
          </a:p>
          <a:p>
            <a:endParaRPr lang="pl-PL" dirty="0"/>
          </a:p>
          <a:p>
            <a:r>
              <a:rPr lang="pl-PL" dirty="0"/>
              <a:t>Wykonujemy Transformację Fouriera (DFT) wzdłuż osi czasu (m - kolejne symbole).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328FF-F5E4-4E1C-B895-100023156C1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5389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2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Sygnał OFDM jest prostokątny w czasie → widmo ma kształt </a:t>
            </a:r>
            <a:r>
              <a:rPr kumimoji="0" lang="pl-PL" sz="800" b="0" i="0" u="none" strike="noStrike" cap="none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sinc</a:t>
            </a:r>
            <a:r>
              <a:rPr kumimoji="0" lang="pl-PL" sz="5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problem </a:t>
            </a:r>
            <a:r>
              <a:rPr lang="pl-PL" i="1" dirty="0"/>
              <a:t>niejednoznaczności odległości</a:t>
            </a:r>
            <a:r>
              <a:rPr lang="pl-PL" dirty="0"/>
              <a:t> (</a:t>
            </a:r>
            <a:r>
              <a:rPr lang="pl-PL" dirty="0" err="1"/>
              <a:t>range</a:t>
            </a:r>
            <a:r>
              <a:rPr lang="pl-PL" dirty="0"/>
              <a:t> </a:t>
            </a:r>
            <a:r>
              <a:rPr lang="pl-PL" dirty="0" err="1"/>
              <a:t>ambiguity</a:t>
            </a:r>
            <a:r>
              <a:rPr lang="pl-PL" dirty="0"/>
              <a:t>) w radarach impulsowych, tutaj wywołany specyficzną budową ramki komunikacyjnej.</a:t>
            </a:r>
            <a:endParaRPr kumimoji="0" lang="pl-PL" sz="12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2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 802.11a nie używa wszystkich 64 podnośnych.</a:t>
            </a: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2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Brak danych na brzegach powoduje błędy przy dzieleniu Y/X.</a:t>
            </a:r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2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Powoduje to pojawianie się fałszywych celów co 120 metrów.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328FF-F5E4-4E1C-B895-100023156C1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1075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Dokładność radaru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9328FF-F5E4-4E1C-B895-100023156C1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4442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801F8-8845-6999-CE71-546918D77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021A58-F1B2-2D0C-DBE0-C1D4C8228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BCF60-3218-E8C3-980F-1BE0DD3E6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4A36-A525-4714-86AA-76C8BF4CD8FC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5B0EB-4956-120E-2DAD-3BD9A5D5D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22217-92BE-AA59-659E-CE29959C3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EEDAF-521D-4598-9550-2998D9D28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775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06F8F-4E72-9A30-E3F2-8B221BBCA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D260B-B5ED-2F05-8C1C-8728FBBBD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AA4F9-613B-9C32-922F-15CA34F17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4A36-A525-4714-86AA-76C8BF4CD8FC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BAEB3-DE0B-2E05-EA3F-7F49F15A4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40BB1-526C-6629-FEA7-1B099C9FB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EEDAF-521D-4598-9550-2998D9D28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6639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C1B0E-FC78-70ED-15B5-4FEEA2E6D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4B77A-0A56-0028-B918-545FD18B8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95578-DF47-70A2-B243-E80EAE6D9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4A36-A525-4714-86AA-76C8BF4CD8FC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7E8F0-379E-6E88-1BE6-401F80B1C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86F33-B20A-7E2E-2B63-E7A0F92FD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EEDAF-521D-4598-9550-2998D9D28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812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24D81-AFFB-3841-A75B-39AA920DC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56176-2CD5-BC00-B1E9-B8154DDFDD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BA9359-897A-D139-136E-4955857B9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DD7677-2FC9-B92D-0E87-726343D83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4A36-A525-4714-86AA-76C8BF4CD8FC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DE7F7-4C57-BBFD-892C-B7EFFE151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B73AC6-C57E-C243-032C-D76010640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EEDAF-521D-4598-9550-2998D9D28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6604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40414-CC34-DDBF-E73B-A98C57671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5C400-5A27-54D8-57CC-216FBADB4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DAC41E-3269-A4F6-3BFE-DA15288F63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702FC5-C92F-A643-01B0-C58A517522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4469E7-043A-55C7-96FA-F209DAAE9E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D06A31-F73C-9DEB-ABBD-05BBDD9E3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4A36-A525-4714-86AA-76C8BF4CD8FC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636073-1FB3-D2DB-1B08-90D5CE74D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DEA136-1112-43A4-41F1-BAADC4A70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EEDAF-521D-4598-9550-2998D9D28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614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00465-97A1-E1DD-2E57-A98AD80C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B4E872-E259-56E2-ACFD-9D24740E6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4A36-A525-4714-86AA-76C8BF4CD8FC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94E810-34DF-AE15-B55E-C0CC0E392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C16584-B378-A88E-FDB8-797BE7D19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EEDAF-521D-4598-9550-2998D9D28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824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3A2602-F2B0-5372-B8DD-A7ED1ADD0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4A36-A525-4714-86AA-76C8BF4CD8FC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193F0D-FCA9-526E-1ADE-109A99A92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B8114-E513-0084-2BB1-6B917CED8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EEDAF-521D-4598-9550-2998D9D28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580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6E562-6614-A175-41EB-F96CDC238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B46DC-A47D-BE23-333F-BDBE22FB7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D07CD2-430C-332B-E566-CC8094D7F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5BE72-7357-2AAF-0F3E-8A32A8997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4A36-A525-4714-86AA-76C8BF4CD8FC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0D447-9BE8-B027-2DD5-8B05796C1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A9597E-AC41-B85F-4C27-0B9F2DFEF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EEDAF-521D-4598-9550-2998D9D28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5479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0EFE1-1BB1-B0B7-155D-EB44D21FB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EC75D2-A263-2C09-706C-1479020CDE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59E57-A107-8D2D-D479-ABBDC4AA9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E3855A-4CC4-8655-4A4A-BAB20CED1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4A36-A525-4714-86AA-76C8BF4CD8FC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D45E4A-8575-99DD-163A-BC374E8CE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A15CDF-9521-6F94-C4B1-957C0FA6C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EEDAF-521D-4598-9550-2998D9D28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9957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D5079-9AC3-7B73-A51D-638EB796D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750634-2386-273C-AFDC-E99C896E7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5565A-1801-F8BC-B4D5-B55456648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4A36-A525-4714-86AA-76C8BF4CD8FC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EF837-516A-B845-7D67-6572CEF50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0B244-BDA4-5AEE-7E2D-86F22BCDC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EEDAF-521D-4598-9550-2998D9D28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6040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9D7445-AAE0-D5C2-B9BF-84D872A78D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8FE6B-B1A9-EFDB-77A8-6C37B99244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1371F-1316-5523-4BAF-711892825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34A36-A525-4714-86AA-76C8BF4CD8FC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A0E82-02CC-CFBB-51F9-1012D23B1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E6F06-528E-279A-EED9-61F979008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EEDAF-521D-4598-9550-2998D9D28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7205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C7E4AA-9E7F-CBC5-6EFB-5779A87E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42014-A1D6-E52C-CC16-8650C0D29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E28A3-7068-3CA7-4A39-46A4A051E1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F34A36-A525-4714-86AA-76C8BF4CD8FC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94049-4E89-941D-CB52-5F58052FF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80676-F477-1C22-674E-D45548D89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FEEDAF-521D-4598-9550-2998D9D28A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498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373BE-000F-72C9-8BB6-2B5F495089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noProof="0" dirty="0" err="1"/>
              <a:t>WiFi</a:t>
            </a:r>
            <a:r>
              <a:rPr lang="pl-PL" noProof="0" dirty="0"/>
              <a:t> Radar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8C78D-081D-AADE-1F76-08D78B200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noProof="0" dirty="0"/>
              <a:t>Tymon Woźniak</a:t>
            </a:r>
          </a:p>
        </p:txBody>
      </p:sp>
    </p:spTree>
    <p:extLst>
      <p:ext uri="{BB962C8B-B14F-4D97-AF65-F5344CB8AC3E}">
        <p14:creationId xmlns:p14="http://schemas.microsoft.com/office/powerpoint/2010/main" val="2592442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B0A88-1BD4-DEC2-575D-067927818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Koncepcja radaru pasywnego PCL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EC9A4-AFF2-3C30-5172-18B98793D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4540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noProof="0" dirty="0" err="1"/>
              <a:t>Illuminators</a:t>
            </a:r>
            <a:r>
              <a:rPr lang="pl-PL" noProof="0" dirty="0"/>
              <a:t> of </a:t>
            </a:r>
            <a:r>
              <a:rPr lang="pl-PL" noProof="0" dirty="0" err="1"/>
              <a:t>Opportunity</a:t>
            </a:r>
            <a:endParaRPr lang="pl-PL" noProof="0" dirty="0">
              <a:effectLst/>
            </a:endParaRPr>
          </a:p>
          <a:p>
            <a:pPr marL="0" indent="0">
              <a:buNone/>
            </a:pPr>
            <a:r>
              <a:rPr lang="pl-PL" noProof="0" dirty="0"/>
              <a:t>Porównanie sygnału bezpośredniego (referencyjnego) z sygnałem odbitym od celu.</a:t>
            </a:r>
            <a:r>
              <a:rPr lang="pl-PL" dirty="0"/>
              <a:t> </a:t>
            </a:r>
            <a:r>
              <a:rPr lang="pl-PL" noProof="0" dirty="0"/>
              <a:t>Zalety: </a:t>
            </a:r>
          </a:p>
          <a:p>
            <a:r>
              <a:rPr lang="pl-PL" dirty="0"/>
              <a:t>n</a:t>
            </a:r>
            <a:r>
              <a:rPr lang="pl-PL" noProof="0" dirty="0" err="1"/>
              <a:t>iewykrywalność</a:t>
            </a:r>
            <a:r>
              <a:rPr lang="pl-PL" noProof="0" dirty="0"/>
              <a:t>, </a:t>
            </a:r>
          </a:p>
          <a:p>
            <a:r>
              <a:rPr lang="pl-PL" noProof="0" dirty="0"/>
              <a:t>niski koszt, </a:t>
            </a:r>
          </a:p>
          <a:p>
            <a:r>
              <a:rPr lang="pl-PL" noProof="0" dirty="0"/>
              <a:t>brak potrzeby licencji na pasmo.</a:t>
            </a:r>
            <a:endParaRPr lang="pl-PL" noProof="0" dirty="0">
              <a:effectLst/>
            </a:endParaRPr>
          </a:p>
        </p:txBody>
      </p:sp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045C10AE-BED3-68D2-2D5D-E16BFDC07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887" y="1423325"/>
            <a:ext cx="5468113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27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186AA-08D1-02C1-0ADB-888727ED1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Sygnał standardu 802.11 Non High </a:t>
            </a:r>
            <a:r>
              <a:rPr lang="pl-PL" noProof="0" dirty="0" err="1"/>
              <a:t>Throughput</a:t>
            </a:r>
            <a:r>
              <a:rPr lang="pl-PL" noProof="0" dirty="0"/>
              <a:t> (802.11a/b/g)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3EF44-1921-5235-EEA3-6D9E3425B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89602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l-PL" b="1" noProof="0" dirty="0"/>
              <a:t>Wzór na sygnał OFDM (dziedzina czasu)</a:t>
            </a:r>
            <a:endParaRPr lang="pl-PL" noProof="0" dirty="0"/>
          </a:p>
          <a:p>
            <a:pPr marL="0" indent="0">
              <a:buNone/>
            </a:pPr>
            <a:endParaRPr lang="pl-PL" b="1" noProof="0" dirty="0"/>
          </a:p>
          <a:p>
            <a:pPr marL="0" indent="0">
              <a:buNone/>
            </a:pPr>
            <a:endParaRPr lang="pl-PL" b="1" noProof="0" dirty="0"/>
          </a:p>
          <a:p>
            <a:pPr marL="0" indent="0">
              <a:buNone/>
            </a:pPr>
            <a:r>
              <a:rPr lang="pl-PL" b="1" noProof="0" dirty="0"/>
              <a:t>Parametry:</a:t>
            </a:r>
            <a:endParaRPr lang="pl-PL" noProof="0" dirty="0"/>
          </a:p>
          <a:p>
            <a:r>
              <a:rPr lang="pl-PL" b="1" noProof="0" dirty="0">
                <a:effectLst/>
              </a:rPr>
              <a:t>NFFT</a:t>
            </a:r>
            <a:r>
              <a:rPr lang="pl-PL" b="1" noProof="0" dirty="0"/>
              <a:t>​:</a:t>
            </a:r>
            <a:r>
              <a:rPr lang="pl-PL" noProof="0" dirty="0"/>
              <a:t> 64 podnośne</a:t>
            </a:r>
          </a:p>
          <a:p>
            <a:r>
              <a:rPr lang="pl-PL" b="1" noProof="0" dirty="0" err="1"/>
              <a:t>Δ</a:t>
            </a:r>
            <a:r>
              <a:rPr lang="pl-PL" b="1" noProof="0" dirty="0" err="1">
                <a:effectLst/>
              </a:rPr>
              <a:t>f</a:t>
            </a:r>
            <a:r>
              <a:rPr lang="pl-PL" b="1" noProof="0" dirty="0"/>
              <a:t>:</a:t>
            </a:r>
            <a:r>
              <a:rPr lang="pl-PL" noProof="0" dirty="0"/>
              <a:t> 312.5 kHz </a:t>
            </a:r>
          </a:p>
          <a:p>
            <a:r>
              <a:rPr lang="pl-PL" b="1" noProof="0" dirty="0"/>
              <a:t>Szerokość pasma:</a:t>
            </a:r>
            <a:r>
              <a:rPr lang="pl-PL" noProof="0" dirty="0"/>
              <a:t> 20 MHz.</a:t>
            </a:r>
          </a:p>
          <a:p>
            <a:r>
              <a:rPr lang="pl-PL" b="1" noProof="0" dirty="0"/>
              <a:t>Aktywne podnośne:</a:t>
            </a:r>
            <a:r>
              <a:rPr lang="pl-PL" noProof="0" dirty="0"/>
              <a:t> 52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5EF69A7-A998-7FD2-9E5D-54E19B99C6C8}"/>
                  </a:ext>
                </a:extLst>
              </p:cNvPr>
              <p:cNvSpPr txBox="1"/>
              <p:nvPr/>
            </p:nvSpPr>
            <p:spPr>
              <a:xfrm>
                <a:off x="923825" y="2658079"/>
                <a:ext cx="3388427" cy="8238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pl-PL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 = </m:t>
                      </m:r>
                      <m:nary>
                        <m:naryPr>
                          <m:chr m:val="∑"/>
                          <m:ctrlPr>
                            <a:rPr lang="pl-PL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m:rPr>
                              <m:lit/>
                            </m:rPr>
                            <a:rPr lang="pl-PL" i="1" noProof="0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m:rPr>
                              <m:lit/>
                            </m:rPr>
                            <a:rPr lang="pl-PL" i="1" noProof="0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2−1</m:t>
                          </m:r>
                        </m:sup>
                        <m:e/>
                      </m:nary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 </m:t>
                      </m:r>
                      <m:sSub>
                        <m:sSubPr>
                          <m:ctrlPr>
                            <a:rPr lang="pl-PL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 ⋅ </m:t>
                      </m:r>
                      <m:sSup>
                        <m:sSupPr>
                          <m:ctrlPr>
                            <a:rPr lang="pl-PL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 2</m:t>
                          </m:r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m:rPr>
                              <m:sty m:val="p"/>
                            </m:rPr>
                            <a:rPr lang="pl-PL" i="0" noProof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 </m:t>
                          </m:r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pl-PL" noProof="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5EF69A7-A998-7FD2-9E5D-54E19B99C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825" y="2658079"/>
                <a:ext cx="3388427" cy="8238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graph of a power spectrum&#10;&#10;AI-generated content may be incorrect.">
            <a:extLst>
              <a:ext uri="{FF2B5EF4-FFF2-40B4-BE49-F238E27FC236}">
                <a16:creationId xmlns:a16="http://schemas.microsoft.com/office/drawing/2014/main" id="{F25F542F-320F-4263-CE4E-EFFB186F3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003" y="1825625"/>
            <a:ext cx="5353797" cy="402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34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223C1-B2A8-681C-4049-4D2F6DE7B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Model Kanału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6A01-4D0C-2CD7-6CBB-280C2467D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7903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b="1" noProof="0" dirty="0"/>
              <a:t>Gdzie:</a:t>
            </a:r>
            <a:endParaRPr lang="pl-PL" noProof="0" dirty="0"/>
          </a:p>
          <a:p>
            <a:r>
              <a:rPr lang="pl-PL" noProof="0" dirty="0" err="1"/>
              <a:t>b</a:t>
            </a:r>
            <a:r>
              <a:rPr lang="pl-PL" baseline="-25000" noProof="0" dirty="0" err="1">
                <a:effectLst/>
              </a:rPr>
              <a:t>h</a:t>
            </a:r>
            <a:r>
              <a:rPr lang="pl-PL" noProof="0" dirty="0"/>
              <a:t>​: Tłumienie </a:t>
            </a:r>
          </a:p>
          <a:p>
            <a:r>
              <a:rPr lang="pl-PL" noProof="0" dirty="0" err="1">
                <a:effectLst/>
              </a:rPr>
              <a:t>τ</a:t>
            </a:r>
            <a:r>
              <a:rPr lang="pl-PL" baseline="-25000" noProof="0" dirty="0" err="1">
                <a:effectLst/>
              </a:rPr>
              <a:t>h</a:t>
            </a:r>
            <a:r>
              <a:rPr lang="pl-PL" noProof="0" dirty="0"/>
              <a:t>​: Opóźnienie czasowe </a:t>
            </a:r>
          </a:p>
          <a:p>
            <a:r>
              <a:rPr lang="pl-PL" noProof="0" dirty="0" err="1">
                <a:effectLst/>
              </a:rPr>
              <a:t>f</a:t>
            </a:r>
            <a:r>
              <a:rPr lang="pl-PL" baseline="-25000" noProof="0" dirty="0" err="1">
                <a:effectLst/>
              </a:rPr>
              <a:t>D,h</a:t>
            </a:r>
            <a:r>
              <a:rPr lang="pl-PL" noProof="0" dirty="0"/>
              <a:t>​: Przesunięcie Dopplera</a:t>
            </a:r>
          </a:p>
          <a:p>
            <a:endParaRPr lang="pl-PL" noProof="0" dirty="0"/>
          </a:p>
          <a:p>
            <a:endParaRPr lang="pl-PL" noProof="0" dirty="0"/>
          </a:p>
          <a:p>
            <a:r>
              <a:rPr lang="pl-PL" noProof="0" dirty="0"/>
              <a:t>n(t): Szum addytywny (AWGN)</a:t>
            </a:r>
          </a:p>
          <a:p>
            <a:pPr marL="0" indent="0">
              <a:buNone/>
            </a:pPr>
            <a:endParaRPr lang="pl-PL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571C9D2-D7F3-C57C-0BF8-EA6F2BFA4893}"/>
                  </a:ext>
                </a:extLst>
              </p:cNvPr>
              <p:cNvSpPr txBox="1"/>
              <p:nvPr/>
            </p:nvSpPr>
            <p:spPr>
              <a:xfrm>
                <a:off x="7032396" y="2502816"/>
                <a:ext cx="4406783" cy="10453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pl-PL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pl-PL" i="1" noProof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nary>
                                <m:naryPr>
                                  <m:chr m:val="∑"/>
                                  <m:ctrlPr>
                                    <a:rPr lang="pl-PL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pl-PL" i="1" noProof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pl-PL" i="1" noProof="0" smtClean="0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pl-PL" i="1" noProof="0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  <m:r>
                                    <a:rPr lang="pl-PL" i="1" noProof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  <m:e/>
                              </m:nary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pl-PL" i="0" noProof="0" smtClean="0">
                              <a:latin typeface="Cambria Math" panose="02040503050406030204" pitchFamily="18" charset="0"/>
                            </a:rPr>
                            <m:t>Cele</m:t>
                          </m:r>
                        </m:lim>
                      </m:limLow>
                      <m:sSub>
                        <m:sSubPr>
                          <m:ctrlPr>
                            <a:rPr lang="pl-PL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pl-PL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pl-PL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pl-PL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pl-PL" noProof="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571C9D2-D7F3-C57C-0BF8-EA6F2BFA4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2396" y="2502816"/>
                <a:ext cx="4406783" cy="10453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46F6EF-C26F-67E0-FF3B-4CED7F342269}"/>
                  </a:ext>
                </a:extLst>
              </p:cNvPr>
              <p:cNvSpPr txBox="1"/>
              <p:nvPr/>
            </p:nvSpPr>
            <p:spPr>
              <a:xfrm>
                <a:off x="1216058" y="4001294"/>
                <a:ext cx="1153201" cy="5266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pl-PL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pl-PL" b="0" i="1" noProof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sSub>
                            <m:sSubPr>
                              <m:ctrlP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pl-PL" noProof="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46F6EF-C26F-67E0-FF3B-4CED7F342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058" y="4001294"/>
                <a:ext cx="1153201" cy="5266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5304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53244-78D3-DBAC-68CE-1B571EECF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Demodulacja OFDM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D4B2D-1AE4-D0DA-D91A-564888C29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69715" cy="4351338"/>
          </a:xfrm>
        </p:spPr>
        <p:txBody>
          <a:bodyPr/>
          <a:lstStyle/>
          <a:p>
            <a:pPr marL="0" indent="0">
              <a:buNone/>
            </a:pPr>
            <a:r>
              <a:rPr lang="pl-PL" noProof="0" dirty="0"/>
              <a:t>Usuwamy modulację (dane), aby uzyskać czystą transmitancję kanału </a:t>
            </a:r>
            <a:r>
              <a:rPr lang="pl-PL" noProof="0" dirty="0">
                <a:effectLst/>
              </a:rPr>
              <a:t>H</a:t>
            </a:r>
            <a:r>
              <a:rPr lang="pl-PL" noProof="0" dirty="0"/>
              <a:t>: </a:t>
            </a:r>
          </a:p>
          <a:p>
            <a:pPr marL="0" indent="0">
              <a:buNone/>
            </a:pPr>
            <a:r>
              <a:rPr lang="pl-PL" noProof="0" dirty="0"/>
              <a:t>wzór na Dyskretną Transformację Fouriera (DFT):</a:t>
            </a:r>
          </a:p>
          <a:p>
            <a:pPr marL="0" indent="0">
              <a:buNone/>
            </a:pPr>
            <a:endParaRPr lang="pl-PL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4CA567-6AB7-3BCC-1D6A-448D5EBE37B8}"/>
                  </a:ext>
                </a:extLst>
              </p:cNvPr>
              <p:cNvSpPr txBox="1"/>
              <p:nvPr/>
            </p:nvSpPr>
            <p:spPr>
              <a:xfrm>
                <a:off x="1635163" y="4756750"/>
                <a:ext cx="2553904" cy="7791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["/>
                          <m:endChr m:val="]"/>
                          <m:ctrlPr>
                            <a:rPr lang="pl-PL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l-PL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e>
                      </m:nary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pl-PL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f>
                            <m:fPr>
                              <m:ctrlP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𝑛𝑘</m:t>
                          </m:r>
                        </m:sup>
                      </m:sSup>
                    </m:oMath>
                  </m:oMathPara>
                </a14:m>
                <a:endParaRPr lang="pl-PL" noProof="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4CA567-6AB7-3BCC-1D6A-448D5EBE3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163" y="4756750"/>
                <a:ext cx="2553904" cy="7791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yellow and blue chart&#10;&#10;AI-generated content may be incorrect.">
            <a:extLst>
              <a:ext uri="{FF2B5EF4-FFF2-40B4-BE49-F238E27FC236}">
                <a16:creationId xmlns:a16="http://schemas.microsoft.com/office/drawing/2014/main" id="{7DAABDFC-C9B3-90BC-4F98-388188D73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8582" y="1423707"/>
            <a:ext cx="5325218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938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3949F-F7B0-4423-AF4E-322D70E59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Estymacja Kanału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5CDFB-76D0-A3CA-D925-90D54D47B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b="1" noProof="0" dirty="0"/>
              <a:t>Dzielenie Widmowe </a:t>
            </a:r>
          </a:p>
          <a:p>
            <a:pPr marL="0" indent="0">
              <a:buNone/>
            </a:pPr>
            <a:endParaRPr lang="pl-PL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762F7D-8754-EB4F-1B96-06590545244C}"/>
                  </a:ext>
                </a:extLst>
              </p:cNvPr>
              <p:cNvSpPr txBox="1"/>
              <p:nvPr/>
            </p:nvSpPr>
            <p:spPr>
              <a:xfrm>
                <a:off x="1479786" y="2688911"/>
                <a:ext cx="1836528" cy="5778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begChr m:val="["/>
                          <m:endChr m:val="]"/>
                          <m:ctrlPr>
                            <a:rPr lang="pl-PL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num>
                        <m:den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pl-PL" noProof="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762F7D-8754-EB4F-1B96-065905452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9786" y="2688911"/>
                <a:ext cx="1836528" cy="5778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2">
            <a:extLst>
              <a:ext uri="{FF2B5EF4-FFF2-40B4-BE49-F238E27FC236}">
                <a16:creationId xmlns:a16="http://schemas.microsoft.com/office/drawing/2014/main" id="{0D8A8D68-0BA1-C73F-DB4A-A60001FD8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627" y="3591240"/>
            <a:ext cx="362075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l-PL" noProof="0" dirty="0">
                <a:latin typeface="Arial" panose="020B0604020202020204" pitchFamily="34" charset="0"/>
              </a:rPr>
              <a:t>k: Indeks podnośnej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l-PL" noProof="0" dirty="0">
                <a:latin typeface="Arial" panose="020B0604020202020204" pitchFamily="34" charset="0"/>
              </a:rPr>
              <a:t>m: Indeks symbolu w czasie</a:t>
            </a:r>
          </a:p>
        </p:txBody>
      </p:sp>
      <p:pic>
        <p:nvPicPr>
          <p:cNvPr id="9" name="Picture 8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BC7B3A7F-D362-E7DA-13ED-4AE47BDE38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7904" y="751796"/>
            <a:ext cx="3248809" cy="58378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965914-3904-941B-C6C9-86919ADBCD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4290" y="2338561"/>
            <a:ext cx="3336519" cy="250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831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23F23-A951-DC09-B23A-A7F8902AF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Tworzenie Mapy Odległość-Prędkość (</a:t>
            </a:r>
            <a:r>
              <a:rPr lang="pl-PL" noProof="0" dirty="0" err="1"/>
              <a:t>Range</a:t>
            </a:r>
            <a:r>
              <a:rPr lang="pl-PL" noProof="0" dirty="0"/>
              <a:t>-Doppler)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8774D-E7A8-6DD9-B316-B760AE9B1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pl-PL" b="1" noProof="0" dirty="0"/>
              <a:t>1. Profil Odległościowy (</a:t>
            </a:r>
            <a:r>
              <a:rPr lang="pl-PL" b="1" noProof="0" dirty="0" err="1"/>
              <a:t>Range</a:t>
            </a:r>
            <a:r>
              <a:rPr lang="pl-PL" b="1" noProof="0" dirty="0"/>
              <a:t> Profile):</a:t>
            </a:r>
          </a:p>
          <a:p>
            <a:endParaRPr lang="pl-PL" b="1" noProof="0" dirty="0"/>
          </a:p>
          <a:p>
            <a:endParaRPr lang="pl-PL" b="1" noProof="0" dirty="0"/>
          </a:p>
          <a:p>
            <a:r>
              <a:rPr lang="pl-PL" b="1" noProof="0" dirty="0"/>
              <a:t>2. Profil Dopplerowski (Doppler Profile):</a:t>
            </a:r>
            <a:endParaRPr lang="pl-PL" noProof="0" dirty="0"/>
          </a:p>
        </p:txBody>
      </p:sp>
      <p:pic>
        <p:nvPicPr>
          <p:cNvPr id="5" name="Picture 4" descr="A diagram of a diagram of a television&#10;&#10;AI-generated content may be incorrect.">
            <a:extLst>
              <a:ext uri="{FF2B5EF4-FFF2-40B4-BE49-F238E27FC236}">
                <a16:creationId xmlns:a16="http://schemas.microsoft.com/office/drawing/2014/main" id="{DC822604-6541-1E37-438B-CFB2B3A0A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0494" y="1198472"/>
            <a:ext cx="5811338" cy="511311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1B98DA-B09E-9935-46D2-5086202870B5}"/>
                  </a:ext>
                </a:extLst>
              </p:cNvPr>
              <p:cNvSpPr txBox="1"/>
              <p:nvPr/>
            </p:nvSpPr>
            <p:spPr>
              <a:xfrm>
                <a:off x="1183341" y="2985247"/>
                <a:ext cx="257570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pl-PL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l-PL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pl-PL" i="0" noProof="0" smtClean="0">
                              <a:latin typeface="Cambria Math" panose="02040503050406030204" pitchFamily="18" charset="0"/>
                            </a:rPr>
                            <m:t>IDFT</m:t>
                          </m:r>
                        </m:e>
                        <m:sub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m:rPr>
                          <m:lit/>
                        </m:rPr>
                        <a:rPr lang="pl-PL" i="1" noProof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begChr m:val="["/>
                          <m:endChr m:val="]"/>
                          <m:ctrlPr>
                            <a:rPr lang="pl-PL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m:rPr>
                          <m:lit/>
                        </m:rPr>
                        <a:rPr lang="pl-PL" i="1" noProof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pl-PL" noProof="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1B98DA-B09E-9935-46D2-508620287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341" y="2985247"/>
                <a:ext cx="2575705" cy="276999"/>
              </a:xfrm>
              <a:prstGeom prst="rect">
                <a:avLst/>
              </a:prstGeom>
              <a:blipFill>
                <a:blip r:embed="rId4"/>
                <a:stretch>
                  <a:fillRect l="-1655" t="-4444" r="-3310" b="-3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D1ABB0-4441-5970-663D-444D345ADADF}"/>
                  </a:ext>
                </a:extLst>
              </p:cNvPr>
              <p:cNvSpPr txBox="1"/>
              <p:nvPr/>
            </p:nvSpPr>
            <p:spPr>
              <a:xfrm>
                <a:off x="1183341" y="5212080"/>
                <a:ext cx="26034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𝑅𝐷</m:t>
                      </m:r>
                      <m:d>
                        <m:dPr>
                          <m:begChr m:val="["/>
                          <m:endChr m:val="]"/>
                          <m:ctrlPr>
                            <a:rPr lang="pl-PL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l-PL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pl-PL" i="0" noProof="0" smtClean="0">
                              <a:latin typeface="Cambria Math" panose="02040503050406030204" pitchFamily="18" charset="0"/>
                            </a:rPr>
                            <m:t>DFT</m:t>
                          </m:r>
                        </m:e>
                        <m:sub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m:rPr>
                          <m:lit/>
                        </m:rPr>
                        <a:rPr lang="pl-PL" i="1" noProof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begChr m:val="["/>
                          <m:endChr m:val="]"/>
                          <m:ctrlPr>
                            <a:rPr lang="pl-PL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m:rPr>
                          <m:lit/>
                        </m:rPr>
                        <a:rPr lang="pl-PL" i="1" noProof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pl-PL" noProof="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D1ABB0-4441-5970-663D-444D345AD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341" y="5212080"/>
                <a:ext cx="2603469" cy="276999"/>
              </a:xfrm>
              <a:prstGeom prst="rect">
                <a:avLst/>
              </a:prstGeom>
              <a:blipFill>
                <a:blip r:embed="rId5"/>
                <a:stretch>
                  <a:fillRect l="-1639" t="-2222" r="-3279" b="-37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2209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28488-2BD2-E633-4A46-3F6E4F8F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Wyzwania i Problemy Implementacyjne 	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4CC1D8-540C-D10A-5F58-DA41EFFC7F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7331" y="2523992"/>
            <a:ext cx="731802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sz="18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Listki Boczne (</a:t>
            </a:r>
            <a:r>
              <a:rPr kumimoji="0" lang="pl-PL" sz="1800" b="1" i="0" u="none" strike="noStrike" cap="none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Sidelobes</a:t>
            </a:r>
            <a:r>
              <a:rPr kumimoji="0" lang="pl-PL" sz="18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endParaRPr kumimoji="0" lang="pl-PL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Rozwiązanie: Okienkowanie (np. okno </a:t>
            </a:r>
            <a:r>
              <a:rPr kumimoji="0" lang="pl-PL" sz="1800" b="0" i="0" u="none" strike="noStrike" cap="none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Hamminga</a:t>
            </a:r>
            <a:r>
              <a:rPr kumimoji="0" lang="pl-PL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przed FFT.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l-PL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sz="18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Pasma Ochronne i Dziura DC:</a:t>
            </a:r>
            <a:endParaRPr kumimoji="0" lang="pl-PL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Rozwiązanie: Maskowanie (zerowanie) nieaktywnych podnośnych.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l-PL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sz="18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Duchy Preambuły (</a:t>
            </a:r>
            <a:r>
              <a:rPr kumimoji="0" lang="pl-PL" sz="1800" b="1" i="0" u="none" strike="noStrike" cap="none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Range</a:t>
            </a:r>
            <a:r>
              <a:rPr kumimoji="0" lang="pl-PL" sz="18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l-PL" sz="1800" b="1" i="0" u="none" strike="noStrike" cap="none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Ambiguity</a:t>
            </a:r>
            <a:r>
              <a:rPr kumimoji="0" lang="pl-PL" sz="1800" b="1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endParaRPr kumimoji="0" lang="pl-PL" sz="1800" b="0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Preambuła (L-STF) jest periodyczna co 0.8μs (16 próbek).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sz="1800" b="0" i="0" u="none" strike="noStrike" cap="none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Rozwiązanie: Usunięcie preambuły i przetwarzanie tylko pola danych</a:t>
            </a:r>
          </a:p>
        </p:txBody>
      </p:sp>
    </p:spTree>
    <p:extLst>
      <p:ext uri="{BB962C8B-B14F-4D97-AF65-F5344CB8AC3E}">
        <p14:creationId xmlns:p14="http://schemas.microsoft.com/office/powerpoint/2010/main" val="3611227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2B12A-361C-BF3D-9DE2-1BE7F1F79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noProof="0" dirty="0"/>
              <a:t>Rozdzielczość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F4438FAA-E9F6-F074-8686-44F7733A5719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838200" y="2185963"/>
                <a:ext cx="4041363" cy="36306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pl-PL" sz="1800" b="1" i="0" u="none" strike="noStrike" cap="none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Rozdzielczość Odległości (ΔR):</a:t>
                </a:r>
                <a:r>
                  <a:rPr kumimoji="0" lang="pl-PL" sz="1800" b="0" i="0" u="none" strike="noStrike" cap="none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r>
                  <a:rPr kumimoji="0" lang="pl-PL" sz="1800" b="0" i="0" u="none" strike="noStrike" cap="none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Zależy od pasma sygnału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endParaRPr kumimoji="0" lang="pl-PL" sz="1800" b="0" i="0" u="none" strike="noStrike" cap="none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pl-PL" sz="18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kumimoji="0" lang="pl-PL" sz="1800" b="0" i="1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kumimoji="0" lang="pl-PL" sz="1800" b="0" i="1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pl-PL" sz="1800" b="0" i="1" u="none" strike="noStrike" cap="none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pl-PL" sz="1800" b="0" i="1" u="none" strike="noStrike" cap="none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kumimoji="0" lang="pl-PL" sz="1800" b="0" i="1" u="none" strike="noStrike" cap="none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0" lang="pl-PL" sz="1800" b="0" i="1" u="none" strike="noStrike" cap="none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</m:oMath>
                  </m:oMathPara>
                </a14:m>
                <a:endParaRPr kumimoji="0" lang="pl-PL" sz="1800" b="0" i="0" u="none" strike="noStrike" cap="none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endParaRPr lang="pl-PL" sz="1800" noProof="0" dirty="0"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endParaRPr kumimoji="0" lang="pl-PL" sz="1800" b="0" i="0" u="none" strike="noStrike" cap="none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None/>
                  <a:tabLst/>
                </a:pPr>
                <a:endParaRPr kumimoji="0" lang="pl-PL" sz="1800" b="0" i="0" u="none" strike="noStrike" cap="none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pl-PL" sz="1800" b="1" i="0" u="none" strike="noStrike" cap="none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Rozdzielczość Prędkości (</a:t>
                </a:r>
                <a:r>
                  <a:rPr kumimoji="0" lang="pl-PL" sz="1800" b="1" i="0" u="none" strike="noStrike" cap="none" normalizeH="0" baseline="0" noProof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Δv</a:t>
                </a:r>
                <a:r>
                  <a:rPr kumimoji="0" lang="pl-PL" sz="1800" b="1" i="0" u="none" strike="noStrike" cap="none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):</a:t>
                </a:r>
                <a:r>
                  <a:rPr kumimoji="0" lang="pl-PL" sz="1800" b="0" i="0" u="none" strike="noStrike" cap="none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pl-PL" sz="1800" noProof="0" dirty="0"/>
                  <a:t>Zależy od czasu integracji i długości fali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kumimoji="0" lang="pl-PL" sz="1800" b="0" i="0" u="none" strike="noStrike" cap="none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pl-PL" sz="1800" b="0" i="0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kumimoji="0" lang="pl-PL" sz="1800" b="0" i="1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kumimoji="0" lang="pl-PL" sz="1800" b="0" i="1" u="none" strike="noStrike" cap="none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pl-PL" sz="1800" b="0" i="1" u="none" strike="noStrike" cap="none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pl-PL" sz="1800" b="0" i="1" u="none" strike="noStrike" cap="none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kumimoji="0" lang="pl-PL" sz="1800" b="0" i="1" u="none" strike="noStrike" cap="none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2⋅</m:t>
                          </m:r>
                          <m:sSub>
                            <m:sSubPr>
                              <m:ctrlPr>
                                <a:rPr kumimoji="0" lang="pl-PL" sz="1800" b="0" i="1" u="none" strike="noStrike" cap="none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pl-PL" sz="1800" b="0" i="1" u="none" strike="noStrike" cap="none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0" lang="pl-PL" sz="1800" b="0" i="1" u="none" strike="noStrike" cap="none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𝑖𝑛𝑡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0" lang="pl-PL" sz="1800" b="0" i="0" u="none" strike="noStrike" cap="none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F4438FAA-E9F6-F074-8686-44F7733A57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838200" y="2185963"/>
                <a:ext cx="4041363" cy="3630674"/>
              </a:xfrm>
              <a:prstGeom prst="rect">
                <a:avLst/>
              </a:prstGeom>
              <a:blipFill>
                <a:blip r:embed="rId3"/>
                <a:stretch>
                  <a:fillRect l="-1360" t="-504" r="-45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7E3329-47B1-7C41-A213-3A32D5E0ADB2}"/>
                  </a:ext>
                </a:extLst>
              </p:cNvPr>
              <p:cNvSpPr txBox="1"/>
              <p:nvPr/>
            </p:nvSpPr>
            <p:spPr>
              <a:xfrm>
                <a:off x="5772892" y="2773670"/>
                <a:ext cx="4310795" cy="9251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l-PL" i="0" noProof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3⋅</m:t>
                          </m:r>
                          <m:sSup>
                            <m:sSupPr>
                              <m:ctrlP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</m:num>
                        <m:den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2⋅20⋅</m:t>
                          </m:r>
                          <m:sSup>
                            <m:sSupPr>
                              <m:ctrlP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m:rPr>
                          <m:nor/>
                        </m:rPr>
                        <a:rPr lang="pl-PL" i="0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l-PL" i="0" noProof="0" smtClean="0">
                          <a:latin typeface="Cambria Math" panose="02040503050406030204" pitchFamily="18" charset="0"/>
                        </a:rPr>
                        <m:t>𝐦</m:t>
                      </m:r>
                    </m:oMath>
                  </m:oMathPara>
                </a14:m>
                <a:endParaRPr lang="pl-PL" i="1" noProof="0" dirty="0">
                  <a:latin typeface="Cambria Math" panose="02040503050406030204" pitchFamily="18" charset="0"/>
                </a:endParaRPr>
              </a:p>
              <a:p>
                <a14:m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7E3329-47B1-7C41-A213-3A32D5E0A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892" y="2773670"/>
                <a:ext cx="4310795" cy="925125"/>
              </a:xfrm>
              <a:prstGeom prst="rect">
                <a:avLst/>
              </a:prstGeom>
              <a:blipFill>
                <a:blip r:embed="rId4"/>
                <a:stretch>
                  <a:fillRect l="-1273"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3A7CFA-C7E9-6B2D-2F3E-BF50EB95CA3A}"/>
                  </a:ext>
                </a:extLst>
              </p:cNvPr>
              <p:cNvSpPr txBox="1"/>
              <p:nvPr/>
            </p:nvSpPr>
            <p:spPr>
              <a:xfrm>
                <a:off x="6458826" y="4246685"/>
                <a:ext cx="4310794" cy="696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sSub>
                            <m:sSubPr>
                              <m:ctrlP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3⋅</m:t>
                          </m:r>
                          <m:sSup>
                            <m:sSupPr>
                              <m:ctrlP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pl-PL" i="0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pl-PL" i="0" noProof="0" smtClean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m:rPr>
                              <m:lit/>
                              <m:nor/>
                            </m:rPr>
                            <a:rPr lang="pl-PL" i="0" noProof="0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nor/>
                            </m:rPr>
                            <a:rPr lang="pl-PL" i="0" noProof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num>
                        <m:den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5,5⋅</m:t>
                          </m:r>
                          <m:sSup>
                            <m:sSupPr>
                              <m:ctrlP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pl-PL" i="0" noProof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pl-PL" i="0" noProof="0" smtClean="0">
                              <a:latin typeface="Cambria Math" panose="02040503050406030204" pitchFamily="18" charset="0"/>
                            </a:rPr>
                            <m:t>Hz</m:t>
                          </m:r>
                        </m:den>
                      </m:f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≈0,0545</m:t>
                      </m:r>
                      <m:r>
                        <m:rPr>
                          <m:nor/>
                        </m:rPr>
                        <a:rPr lang="pl-PL" i="0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l-PL" i="0" noProof="0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3A7CFA-C7E9-6B2D-2F3E-BF50EB95C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8826" y="4246685"/>
                <a:ext cx="4310794" cy="6967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BAC3F1-2B46-404E-EF73-ED40034FF558}"/>
                  </a:ext>
                </a:extLst>
              </p:cNvPr>
              <p:cNvSpPr txBox="1"/>
              <p:nvPr/>
            </p:nvSpPr>
            <p:spPr>
              <a:xfrm>
                <a:off x="6567855" y="5314115"/>
                <a:ext cx="5143500" cy="657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l-PL" i="0" noProof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pl-PL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0.0545</m:t>
                          </m:r>
                        </m:num>
                        <m:den>
                          <m:r>
                            <a:rPr lang="pl-PL" i="1" noProof="0" smtClean="0">
                              <a:latin typeface="Cambria Math" panose="02040503050406030204" pitchFamily="18" charset="0"/>
                            </a:rPr>
                            <m:t>2⋅</m:t>
                          </m:r>
                          <m:d>
                            <m:dPr>
                              <m:ctrlP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i="1" noProof="0" smtClean="0">
                                  <a:latin typeface="Cambria Math" panose="02040503050406030204" pitchFamily="18" charset="0"/>
                                </a:rPr>
                                <m:t>5.5⋅</m:t>
                              </m:r>
                              <m:sSup>
                                <m:sSupPr>
                                  <m:ctrlPr>
                                    <a:rPr lang="pl-PL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l-PL" i="1" noProof="0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pl-PL" i="1" noProof="0" smtClean="0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r>
                        <a:rPr lang="pl-PL" b="0" i="1" noProof="0" smtClean="0">
                          <a:latin typeface="Cambria Math" panose="02040503050406030204" pitchFamily="18" charset="0"/>
                        </a:rPr>
                        <m:t>=4.95⋅3.6≈</m:t>
                      </m:r>
                      <m:r>
                        <a:rPr lang="pl-PL" b="0" i="1" noProof="0" smtClean="0">
                          <a:latin typeface="Cambria Math" panose="02040503050406030204" pitchFamily="18" charset="0"/>
                        </a:rPr>
                        <m:t>𝟏𝟕</m:t>
                      </m:r>
                      <m:r>
                        <a:rPr lang="pl-PL" b="0" i="1" noProof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l-PL" b="0" i="1" noProof="0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m:rPr>
                          <m:nor/>
                        </m:rPr>
                        <a:rPr lang="pl-PL" b="0" i="0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l-PL" b="0" i="0" noProof="0" smtClean="0">
                          <a:latin typeface="Cambria Math" panose="02040503050406030204" pitchFamily="18" charset="0"/>
                        </a:rPr>
                        <m:t>𝐤𝐦</m:t>
                      </m:r>
                      <m:r>
                        <m:rPr>
                          <m:lit/>
                          <m:nor/>
                        </m:rPr>
                        <a:rPr lang="pl-PL" b="0" i="0" noProof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nor/>
                        </m:rPr>
                        <a:rPr lang="pl-PL" b="0" i="0" noProof="0" smtClean="0">
                          <a:latin typeface="Cambria Math" panose="02040503050406030204" pitchFamily="18" charset="0"/>
                        </a:rPr>
                        <m:t>𝐡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BAC3F1-2B46-404E-EF73-ED40034FF5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7855" y="5314115"/>
                <a:ext cx="5143500" cy="6575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6529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AED9A-13B6-67F3-43A2-27463DFB1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1279"/>
            <a:ext cx="10515600" cy="1325563"/>
          </a:xfrm>
        </p:spPr>
        <p:txBody>
          <a:bodyPr/>
          <a:lstStyle/>
          <a:p>
            <a:r>
              <a:rPr lang="pl-PL" dirty="0"/>
              <a:t>Kod w </a:t>
            </a:r>
            <a:r>
              <a:rPr lang="pl-PL" dirty="0" err="1"/>
              <a:t>matlabie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1112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667</Words>
  <Application>Microsoft Office PowerPoint</Application>
  <PresentationFormat>Widescreen</PresentationFormat>
  <Paragraphs>128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Arial Unicode MS</vt:lpstr>
      <vt:lpstr>Cambria Math</vt:lpstr>
      <vt:lpstr>Office Theme</vt:lpstr>
      <vt:lpstr>WiFi Radar</vt:lpstr>
      <vt:lpstr>Koncepcja radaru pasywnego PCL</vt:lpstr>
      <vt:lpstr>Sygnał standardu 802.11 Non High Throughput (802.11a/b/g)</vt:lpstr>
      <vt:lpstr>Model Kanału</vt:lpstr>
      <vt:lpstr>Demodulacja OFDM</vt:lpstr>
      <vt:lpstr>Estymacja Kanału</vt:lpstr>
      <vt:lpstr>Tworzenie Mapy Odległość-Prędkość (Range-Doppler)</vt:lpstr>
      <vt:lpstr>Wyzwania i Problemy Implementacyjne  </vt:lpstr>
      <vt:lpstr>Rozdzielczość</vt:lpstr>
      <vt:lpstr>Kod w matlabie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Tymon Woźniak</dc:creator>
  <cp:lastModifiedBy>Tymon Woźniak</cp:lastModifiedBy>
  <cp:revision>1</cp:revision>
  <dcterms:created xsi:type="dcterms:W3CDTF">2026-01-20T08:07:58Z</dcterms:created>
  <dcterms:modified xsi:type="dcterms:W3CDTF">2026-01-20T12:46:30Z</dcterms:modified>
</cp:coreProperties>
</file>